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579" r:id="rId2"/>
    <p:sldId id="580" r:id="rId3"/>
    <p:sldId id="581" r:id="rId4"/>
    <p:sldId id="583" r:id="rId5"/>
    <p:sldId id="584" r:id="rId6"/>
    <p:sldId id="585" r:id="rId7"/>
    <p:sldId id="586" r:id="rId8"/>
    <p:sldId id="587" r:id="rId9"/>
    <p:sldId id="568" r:id="rId10"/>
    <p:sldId id="588" r:id="rId11"/>
    <p:sldId id="589" r:id="rId12"/>
    <p:sldId id="590" r:id="rId13"/>
    <p:sldId id="591" r:id="rId14"/>
    <p:sldId id="592" r:id="rId15"/>
    <p:sldId id="594" r:id="rId16"/>
    <p:sldId id="625" r:id="rId17"/>
    <p:sldId id="626" r:id="rId18"/>
    <p:sldId id="619" r:id="rId19"/>
    <p:sldId id="627" r:id="rId20"/>
    <p:sldId id="628" r:id="rId21"/>
    <p:sldId id="629" r:id="rId22"/>
    <p:sldId id="622" r:id="rId23"/>
    <p:sldId id="630" r:id="rId24"/>
    <p:sldId id="631" r:id="rId25"/>
    <p:sldId id="632" r:id="rId26"/>
    <p:sldId id="633" r:id="rId27"/>
    <p:sldId id="634" r:id="rId28"/>
    <p:sldId id="635" r:id="rId29"/>
    <p:sldId id="841" r:id="rId30"/>
    <p:sldId id="840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FFFF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664" autoAdjust="0"/>
  </p:normalViewPr>
  <p:slideViewPr>
    <p:cSldViewPr>
      <p:cViewPr varScale="1">
        <p:scale>
          <a:sx n="85" d="100"/>
          <a:sy n="85" d="100"/>
        </p:scale>
        <p:origin x="1378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575E4D-6DA4-FDD7-8512-BC2226249F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A1BE4-A004-9E1D-D1EA-BF6115B7F7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576FC-F2A6-4404-8A20-3FA4E97AE6A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6C11B-05DA-9432-9295-0AF90C9D85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D6CFA-4849-BC0C-0A74-0BB9C72997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47784-FA6D-42AD-BA07-3E9BEF86B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726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8910F-2AFB-4033-B56C-66F0A1FD95E7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5720A-9658-406E-AF8C-E28D6A7BB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68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F58-3ED8-4E3B-BF18-EB8841A00A34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2057-F4F3-44C0-A8A4-05DD93DFEB0F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CE91-A77D-4F96-BE5B-8805ACFBB5A6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AD626-630A-471D-B23C-6F98C91B3B55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5D011-96BF-428D-A1A6-2E03A4444582}" type="datetime1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1A756-B9AE-43D3-889B-71DA44EF5C60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921F-3743-4398-BAEC-7B2DCDEAAC2D}" type="datetime1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E85E-D030-4BE9-86A5-352830FCAFFE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631D-FEAA-4CD8-A88D-3BDF5369F044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A9AC-93DF-4AF8-ADAC-E30E0C1A3D41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9EA6-80C6-45A8-9CF0-CE2D38C39389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4C863-885B-489A-A046-EC952D12FF51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2523971"/>
            <a:ext cx="8382000" cy="201485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</a:t>
            </a:r>
          </a:p>
          <a:p>
            <a:pPr algn="ctr"/>
            <a:endParaRPr lang="en-US" sz="3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No. 03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8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5" name="Title 1"/>
          <p:cNvSpPr txBox="1">
            <a:spLocks/>
          </p:cNvSpPr>
          <p:nvPr/>
        </p:nvSpPr>
        <p:spPr>
          <a:xfrm>
            <a:off x="304800" y="4538829"/>
            <a:ext cx="8458200" cy="1557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324600"/>
            <a:ext cx="38481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6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Keywords in C++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Data Types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Precedence of Operators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Assignment Operator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Last Lecture Review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97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Adding Two Integers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Using Character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Variables Type &amp; Range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Integer Overflow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Code Flow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if Statement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What Will You Learn Today?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5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We can </a:t>
            </a:r>
            <a:r>
              <a:rPr lang="en-US" sz="3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something if we do not want it to be compiled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It is mostly used to define or explain something in the code OR to identify errors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Single line comments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	</a:t>
            </a:r>
            <a:r>
              <a:rPr lang="en-US" sz="3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//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Multi line comment      	</a:t>
            </a:r>
            <a:r>
              <a:rPr lang="en-US" sz="3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/*……….*/</a:t>
            </a:r>
            <a:endParaRPr lang="en-US" sz="3000" b="1" dirty="0">
              <a:solidFill>
                <a:srgbClr val="8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Comments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00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78504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is our First Program.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 will display Hello World on screen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0" indent="0">
              <a:buClr>
                <a:schemeClr val="tx1"/>
              </a:buClr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  	</a:t>
            </a: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//start of the function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 World!!!"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Comments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73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400"/>
            <a:ext cx="8229600" cy="807403"/>
          </a:xfrm>
        </p:spPr>
        <p:txBody>
          <a:bodyPr>
            <a:normAutofit/>
          </a:bodyPr>
          <a:lstStyle/>
          <a:p>
            <a:pPr marL="0" indent="0" algn="ctr">
              <a:buClr>
                <a:schemeClr val="tx1"/>
              </a:buClr>
              <a:buNone/>
            </a:pPr>
            <a:r>
              <a:rPr lang="en-US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your code properly!!!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Suggestion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04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sum;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first integer\t"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second integer\t"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	sum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sum is\t:"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sum &lt;&lt;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Adding Two Integers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64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69197"/>
            <a:ext cx="8229600" cy="2331403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sz="2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first integer		100</a:t>
            </a:r>
          </a:p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sz="2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second integer		200</a:t>
            </a:r>
          </a:p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sz="2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sum is:				300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Adding Two Integers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467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Adding Two Integers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597"/>
            <a:ext cx="8229600" cy="56080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sum = 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first integer\t"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second integer\t"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	sum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sum is\t:"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sum &lt;&lt;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268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Ask user to enter a three digit number and then display the number in reverse order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Task 1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56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1397"/>
            <a:ext cx="8229600" cy="4740227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number;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a three digit number"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number;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number % 10;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number = number / 10;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number % 10;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number = number / 10;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number;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Task 1 – Solution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5822584"/>
            <a:ext cx="8229600" cy="9592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a three digit number		123</a:t>
            </a:r>
          </a:p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321</a:t>
            </a:r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1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336681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char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x =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"The character is: &lt;&lt; x &lt;&lt;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Using Character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5334000"/>
            <a:ext cx="8229600" cy="76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character is:	a</a:t>
            </a:r>
          </a:p>
        </p:txBody>
      </p:sp>
    </p:spTree>
    <p:extLst>
      <p:ext uri="{BB962C8B-B14F-4D97-AF65-F5344CB8AC3E}">
        <p14:creationId xmlns:p14="http://schemas.microsoft.com/office/powerpoint/2010/main" val="20665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8"/>
            <a:ext cx="8229600" cy="371856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char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Character:"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x 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"You entered 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x &lt;&lt;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Using Character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5288597"/>
            <a:ext cx="8229600" cy="8836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Character:		a</a:t>
            </a:r>
          </a:p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entered			a</a:t>
            </a:r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74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37030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char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Character:"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x 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"ASCII Value:"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Using Character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5288597"/>
            <a:ext cx="8229600" cy="8836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Character:		a</a:t>
            </a:r>
          </a:p>
          <a:p>
            <a:pPr marL="0" indent="0"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ASCII Value:			97</a:t>
            </a:r>
          </a:p>
        </p:txBody>
      </p:sp>
    </p:spTree>
    <p:extLst>
      <p:ext uri="{BB962C8B-B14F-4D97-AF65-F5344CB8AC3E}">
        <p14:creationId xmlns:p14="http://schemas.microsoft.com/office/powerpoint/2010/main" val="88110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3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 = 1000;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cout &lt;&lt; </a:t>
            </a:r>
            <a:r>
              <a:rPr lang="pt-B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 = "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 &lt;&lt;endl;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n = n * 1000;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cout &lt;&lt; </a:t>
            </a:r>
            <a:r>
              <a:rPr lang="pt-B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 = "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 n &lt;&lt;endl;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n = n * 1000;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cout &lt;&lt; </a:t>
            </a:r>
            <a:r>
              <a:rPr lang="pt-B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 = "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 n &lt;&lt;endl;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n = n * 1000;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cout &lt;&lt; </a:t>
            </a:r>
            <a:r>
              <a:rPr lang="pt-B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 = "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 &lt;&lt;endl;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Integer Overflow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72200" y="1935797"/>
            <a:ext cx="2895600" cy="40078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50000"/>
              </a:lnSpc>
              <a:buClr>
                <a:schemeClr val="tx1"/>
              </a:buClr>
              <a:buFont typeface="Arial" pitchFamily="34" charset="0"/>
              <a:buNone/>
            </a:pPr>
            <a:r>
              <a:rPr lang="pt-BR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= 1000;</a:t>
            </a:r>
          </a:p>
          <a:p>
            <a:pPr marL="0" indent="0">
              <a:lnSpc>
                <a:spcPct val="250000"/>
              </a:lnSpc>
              <a:buClr>
                <a:schemeClr val="tx1"/>
              </a:buClr>
              <a:buFont typeface="Arial" pitchFamily="34" charset="0"/>
              <a:buNone/>
            </a:pPr>
            <a:r>
              <a:rPr lang="pt-BR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= 1000000;</a:t>
            </a:r>
          </a:p>
          <a:p>
            <a:pPr marL="0" indent="0">
              <a:lnSpc>
                <a:spcPct val="250000"/>
              </a:lnSpc>
              <a:buClr>
                <a:schemeClr val="tx1"/>
              </a:buClr>
              <a:buFont typeface="Arial" pitchFamily="34" charset="0"/>
              <a:buNone/>
            </a:pPr>
            <a:r>
              <a:rPr lang="pt-BR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= 1000000000</a:t>
            </a:r>
          </a:p>
          <a:p>
            <a:pPr marL="0" indent="0">
              <a:lnSpc>
                <a:spcPct val="250000"/>
              </a:lnSpc>
              <a:buClr>
                <a:schemeClr val="tx1"/>
              </a:buClr>
              <a:buFont typeface="Arial" pitchFamily="34" charset="0"/>
              <a:buNone/>
            </a:pPr>
            <a:r>
              <a:rPr lang="pt-BR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= -727379968</a:t>
            </a:r>
          </a:p>
        </p:txBody>
      </p:sp>
      <p:sp>
        <p:nvSpPr>
          <p:cNvPr id="5" name="Freeform 4"/>
          <p:cNvSpPr/>
          <p:nvPr/>
        </p:nvSpPr>
        <p:spPr>
          <a:xfrm>
            <a:off x="4494727" y="2336107"/>
            <a:ext cx="1700011" cy="484366"/>
          </a:xfrm>
          <a:custGeom>
            <a:avLst/>
            <a:gdLst>
              <a:gd name="connsiteX0" fmla="*/ 0 w 1700011"/>
              <a:gd name="connsiteY0" fmla="*/ 484366 h 484366"/>
              <a:gd name="connsiteX1" fmla="*/ 373487 w 1700011"/>
              <a:gd name="connsiteY1" fmla="*/ 7848 h 484366"/>
              <a:gd name="connsiteX2" fmla="*/ 1700011 w 1700011"/>
              <a:gd name="connsiteY2" fmla="*/ 175273 h 484366"/>
              <a:gd name="connsiteX3" fmla="*/ 1700011 w 1700011"/>
              <a:gd name="connsiteY3" fmla="*/ 175273 h 484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0011" h="484366">
                <a:moveTo>
                  <a:pt x="0" y="484366"/>
                </a:moveTo>
                <a:cubicBezTo>
                  <a:pt x="45076" y="271864"/>
                  <a:pt x="90152" y="59363"/>
                  <a:pt x="373487" y="7848"/>
                </a:cubicBezTo>
                <a:cubicBezTo>
                  <a:pt x="656822" y="-43667"/>
                  <a:pt x="1700011" y="175273"/>
                  <a:pt x="1700011" y="175273"/>
                </a:cubicBezTo>
                <a:lnTo>
                  <a:pt x="1700011" y="175273"/>
                </a:lnTo>
              </a:path>
            </a:pathLst>
          </a:cu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4276523" y="3385903"/>
            <a:ext cx="1879578" cy="310334"/>
          </a:xfrm>
          <a:custGeom>
            <a:avLst/>
            <a:gdLst>
              <a:gd name="connsiteX0" fmla="*/ 37900 w 1879578"/>
              <a:gd name="connsiteY0" fmla="*/ 310334 h 310334"/>
              <a:gd name="connsiteX1" fmla="*/ 243962 w 1879578"/>
              <a:gd name="connsiteY1" fmla="*/ 1241 h 310334"/>
              <a:gd name="connsiteX2" fmla="*/ 1879578 w 1879578"/>
              <a:gd name="connsiteY2" fmla="*/ 194424 h 310334"/>
              <a:gd name="connsiteX3" fmla="*/ 1879578 w 1879578"/>
              <a:gd name="connsiteY3" fmla="*/ 194424 h 310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9578" h="310334">
                <a:moveTo>
                  <a:pt x="37900" y="310334"/>
                </a:moveTo>
                <a:cubicBezTo>
                  <a:pt x="-12542" y="165446"/>
                  <a:pt x="-62984" y="20559"/>
                  <a:pt x="243962" y="1241"/>
                </a:cubicBezTo>
                <a:cubicBezTo>
                  <a:pt x="550908" y="-18077"/>
                  <a:pt x="1879578" y="194424"/>
                  <a:pt x="1879578" y="194424"/>
                </a:cubicBezTo>
                <a:lnTo>
                  <a:pt x="1879578" y="194424"/>
                </a:lnTo>
              </a:path>
            </a:pathLst>
          </a:cu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4343400" y="4287067"/>
            <a:ext cx="1791237" cy="310691"/>
          </a:xfrm>
          <a:custGeom>
            <a:avLst/>
            <a:gdLst>
              <a:gd name="connsiteX0" fmla="*/ 0 w 1867437"/>
              <a:gd name="connsiteY0" fmla="*/ 310691 h 310691"/>
              <a:gd name="connsiteX1" fmla="*/ 721217 w 1867437"/>
              <a:gd name="connsiteY1" fmla="*/ 1598 h 310691"/>
              <a:gd name="connsiteX2" fmla="*/ 1867437 w 1867437"/>
              <a:gd name="connsiteY2" fmla="*/ 181902 h 310691"/>
              <a:gd name="connsiteX3" fmla="*/ 1867437 w 1867437"/>
              <a:gd name="connsiteY3" fmla="*/ 181902 h 31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437" h="310691">
                <a:moveTo>
                  <a:pt x="0" y="310691"/>
                </a:moveTo>
                <a:cubicBezTo>
                  <a:pt x="204989" y="166877"/>
                  <a:pt x="409978" y="23063"/>
                  <a:pt x="721217" y="1598"/>
                </a:cubicBezTo>
                <a:cubicBezTo>
                  <a:pt x="1032456" y="-19867"/>
                  <a:pt x="1867437" y="181902"/>
                  <a:pt x="1867437" y="181902"/>
                </a:cubicBezTo>
                <a:lnTo>
                  <a:pt x="1867437" y="181902"/>
                </a:lnTo>
              </a:path>
            </a:pathLst>
          </a:cu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4481848" y="5022632"/>
            <a:ext cx="1622738" cy="463768"/>
          </a:xfrm>
          <a:custGeom>
            <a:avLst/>
            <a:gdLst>
              <a:gd name="connsiteX0" fmla="*/ 0 w 1622738"/>
              <a:gd name="connsiteY0" fmla="*/ 463768 h 463768"/>
              <a:gd name="connsiteX1" fmla="*/ 592428 w 1622738"/>
              <a:gd name="connsiteY1" fmla="*/ 129 h 463768"/>
              <a:gd name="connsiteX2" fmla="*/ 1622738 w 1622738"/>
              <a:gd name="connsiteY2" fmla="*/ 412253 h 463768"/>
              <a:gd name="connsiteX3" fmla="*/ 1622738 w 1622738"/>
              <a:gd name="connsiteY3" fmla="*/ 412253 h 46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2738" h="463768">
                <a:moveTo>
                  <a:pt x="0" y="463768"/>
                </a:moveTo>
                <a:cubicBezTo>
                  <a:pt x="160986" y="236241"/>
                  <a:pt x="321972" y="8715"/>
                  <a:pt x="592428" y="129"/>
                </a:cubicBezTo>
                <a:cubicBezTo>
                  <a:pt x="862884" y="-8457"/>
                  <a:pt x="1622738" y="412253"/>
                  <a:pt x="1622738" y="412253"/>
                </a:cubicBezTo>
                <a:lnTo>
                  <a:pt x="1622738" y="412253"/>
                </a:lnTo>
              </a:path>
            </a:pathLst>
          </a:cu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221569" y="5349240"/>
            <a:ext cx="2796862" cy="3810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7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 build="p" animBg="1"/>
      <p:bldP spid="5" grpId="0" animBg="1"/>
      <p:bldP spid="6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 any programming language the flow of the code can be of four types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Sequential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Repetition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 to (Obsolete Style)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Code Flow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36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Sequential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</a:p>
          <a:p>
            <a:pPr lvl="1">
              <a:buFont typeface="Arial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Single Selection (if)</a:t>
            </a:r>
          </a:p>
          <a:p>
            <a:pPr lvl="1">
              <a:buFont typeface="Arial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Double Selection (if-else, Ternary Operator)</a:t>
            </a:r>
          </a:p>
          <a:p>
            <a:pPr lvl="1">
              <a:buFont typeface="Arial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Multiple Selection (else-if, switch)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Repetition</a:t>
            </a:r>
          </a:p>
          <a:p>
            <a:pPr lvl="1"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while Loop</a:t>
            </a:r>
          </a:p>
          <a:p>
            <a:pPr lvl="1"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do-while Loop</a:t>
            </a:r>
          </a:p>
          <a:p>
            <a:pPr lvl="1"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for Loop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Code Flow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13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Consider the following statements: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If x is dividable by 2 then x is even number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If marks are equal or greater than 85 then grade is 'A‘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If 8%4 is 0 then 8 is divisible by 4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If number is greater than 0 then number is positive number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If marks are greater than 80% and age is equal to or greater than 16 then grant admission in university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Selection Statements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7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Relational Operators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28599" y="1752600"/>
          <a:ext cx="868680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2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Algebraic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C++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x&gt;y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is greater than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x&lt;y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 is less than 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x&gt;=y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 is greater than or equal to 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x&lt;=y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 is less than or equal to 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x==y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 is equal to 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x!=y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 is not equal to 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02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8"/>
            <a:ext cx="8229600" cy="3703832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2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3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2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Relational Operators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5257800"/>
            <a:ext cx="8229600" cy="9897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6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0</a:t>
            </a:r>
          </a:p>
          <a:p>
            <a:pPr marL="0" indent="0">
              <a:buFont typeface="Arial" pitchFamily="34" charset="0"/>
              <a:buNone/>
            </a:pPr>
            <a:r>
              <a:rPr lang="en-US" sz="26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1</a:t>
            </a:r>
            <a:endParaRPr lang="en-US" sz="2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75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statement is used in C++ for selection purposes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Structure of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statement is: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if Statement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4297997"/>
            <a:ext cx="8229600" cy="20266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915177" y="3682292"/>
            <a:ext cx="4343400" cy="1750881"/>
            <a:chOff x="3915177" y="3682292"/>
            <a:chExt cx="4343400" cy="1750881"/>
          </a:xfrm>
        </p:grpSpPr>
        <p:sp>
          <p:nvSpPr>
            <p:cNvPr id="16" name="Rectangle 15"/>
            <p:cNvSpPr/>
            <p:nvPr/>
          </p:nvSpPr>
          <p:spPr>
            <a:xfrm>
              <a:off x="5943600" y="4366062"/>
              <a:ext cx="2314977" cy="1067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Relational Operator</a:t>
              </a:r>
            </a:p>
          </p:txBody>
        </p:sp>
        <p:sp>
          <p:nvSpPr>
            <p:cNvPr id="2" name="Freeform 1"/>
            <p:cNvSpPr/>
            <p:nvPr/>
          </p:nvSpPr>
          <p:spPr>
            <a:xfrm>
              <a:off x="3915177" y="3682292"/>
              <a:ext cx="2730322" cy="863950"/>
            </a:xfrm>
            <a:custGeom>
              <a:avLst/>
              <a:gdLst>
                <a:gd name="connsiteX0" fmla="*/ 0 w 2730322"/>
                <a:gd name="connsiteY0" fmla="*/ 722283 h 863950"/>
                <a:gd name="connsiteX1" fmla="*/ 1249251 w 2730322"/>
                <a:gd name="connsiteY1" fmla="*/ 1066 h 863950"/>
                <a:gd name="connsiteX2" fmla="*/ 2730322 w 2730322"/>
                <a:gd name="connsiteY2" fmla="*/ 863950 h 863950"/>
                <a:gd name="connsiteX3" fmla="*/ 2730322 w 2730322"/>
                <a:gd name="connsiteY3" fmla="*/ 863950 h 86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0322" h="863950">
                  <a:moveTo>
                    <a:pt x="0" y="722283"/>
                  </a:moveTo>
                  <a:cubicBezTo>
                    <a:pt x="397098" y="349869"/>
                    <a:pt x="794197" y="-22545"/>
                    <a:pt x="1249251" y="1066"/>
                  </a:cubicBezTo>
                  <a:cubicBezTo>
                    <a:pt x="1704305" y="24677"/>
                    <a:pt x="2730322" y="863950"/>
                    <a:pt x="2730322" y="863950"/>
                  </a:cubicBezTo>
                  <a:lnTo>
                    <a:pt x="2730322" y="863950"/>
                  </a:lnTo>
                </a:path>
              </a:pathLst>
            </a:custGeom>
            <a:noFill/>
            <a:ln w="44450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73436" y="4136480"/>
            <a:ext cx="2015218" cy="1807120"/>
            <a:chOff x="573436" y="4136480"/>
            <a:chExt cx="2015218" cy="1807120"/>
          </a:xfrm>
        </p:grpSpPr>
        <p:sp>
          <p:nvSpPr>
            <p:cNvPr id="15" name="Rectangle 14"/>
            <p:cNvSpPr/>
            <p:nvPr/>
          </p:nvSpPr>
          <p:spPr>
            <a:xfrm>
              <a:off x="573436" y="4507131"/>
              <a:ext cx="1317938" cy="14364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True(1) OR False(0)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1339403" y="4136480"/>
              <a:ext cx="1249251" cy="487035"/>
            </a:xfrm>
            <a:custGeom>
              <a:avLst/>
              <a:gdLst>
                <a:gd name="connsiteX0" fmla="*/ 1249251 w 1249251"/>
                <a:gd name="connsiteY0" fmla="*/ 203700 h 487035"/>
                <a:gd name="connsiteX1" fmla="*/ 734096 w 1249251"/>
                <a:gd name="connsiteY1" fmla="*/ 10517 h 487035"/>
                <a:gd name="connsiteX2" fmla="*/ 0 w 1249251"/>
                <a:gd name="connsiteY2" fmla="*/ 487035 h 487035"/>
                <a:gd name="connsiteX3" fmla="*/ 0 w 1249251"/>
                <a:gd name="connsiteY3" fmla="*/ 487035 h 48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9251" h="487035">
                  <a:moveTo>
                    <a:pt x="1249251" y="203700"/>
                  </a:moveTo>
                  <a:cubicBezTo>
                    <a:pt x="1095778" y="83497"/>
                    <a:pt x="942305" y="-36706"/>
                    <a:pt x="734096" y="10517"/>
                  </a:cubicBezTo>
                  <a:cubicBezTo>
                    <a:pt x="525887" y="57740"/>
                    <a:pt x="0" y="487035"/>
                    <a:pt x="0" y="487035"/>
                  </a:cubicBezTo>
                  <a:lnTo>
                    <a:pt x="0" y="487035"/>
                  </a:lnTo>
                </a:path>
              </a:pathLst>
            </a:custGeom>
            <a:noFill/>
            <a:ln w="44450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728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statement is used in C++ for selection purposes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Structure of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statement is: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if Statement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4297997"/>
            <a:ext cx="8229600" cy="20266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3436" y="4507131"/>
            <a:ext cx="1317938" cy="1436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True(1) OR False(0)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366062"/>
            <a:ext cx="2314977" cy="1067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Operator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57200" y="1426113"/>
            <a:ext cx="8229600" cy="914407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grade is greater than or equal to 60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Print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"Passed"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2583461"/>
            <a:ext cx="8229600" cy="9979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grade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60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"Passed"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" name="Freeform 1"/>
          <p:cNvSpPr/>
          <p:nvPr/>
        </p:nvSpPr>
        <p:spPr>
          <a:xfrm>
            <a:off x="3915177" y="3682292"/>
            <a:ext cx="2730322" cy="863950"/>
          </a:xfrm>
          <a:custGeom>
            <a:avLst/>
            <a:gdLst>
              <a:gd name="connsiteX0" fmla="*/ 0 w 2730322"/>
              <a:gd name="connsiteY0" fmla="*/ 722283 h 863950"/>
              <a:gd name="connsiteX1" fmla="*/ 1249251 w 2730322"/>
              <a:gd name="connsiteY1" fmla="*/ 1066 h 863950"/>
              <a:gd name="connsiteX2" fmla="*/ 2730322 w 2730322"/>
              <a:gd name="connsiteY2" fmla="*/ 863950 h 863950"/>
              <a:gd name="connsiteX3" fmla="*/ 2730322 w 2730322"/>
              <a:gd name="connsiteY3" fmla="*/ 863950 h 86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322" h="863950">
                <a:moveTo>
                  <a:pt x="0" y="722283"/>
                </a:moveTo>
                <a:cubicBezTo>
                  <a:pt x="397098" y="349869"/>
                  <a:pt x="794197" y="-22545"/>
                  <a:pt x="1249251" y="1066"/>
                </a:cubicBezTo>
                <a:cubicBezTo>
                  <a:pt x="1704305" y="24677"/>
                  <a:pt x="2730322" y="863950"/>
                  <a:pt x="2730322" y="863950"/>
                </a:cubicBezTo>
                <a:lnTo>
                  <a:pt x="2730322" y="863950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1339403" y="4136480"/>
            <a:ext cx="1249251" cy="487035"/>
          </a:xfrm>
          <a:custGeom>
            <a:avLst/>
            <a:gdLst>
              <a:gd name="connsiteX0" fmla="*/ 1249251 w 1249251"/>
              <a:gd name="connsiteY0" fmla="*/ 203700 h 487035"/>
              <a:gd name="connsiteX1" fmla="*/ 734096 w 1249251"/>
              <a:gd name="connsiteY1" fmla="*/ 10517 h 487035"/>
              <a:gd name="connsiteX2" fmla="*/ 0 w 1249251"/>
              <a:gd name="connsiteY2" fmla="*/ 487035 h 487035"/>
              <a:gd name="connsiteX3" fmla="*/ 0 w 1249251"/>
              <a:gd name="connsiteY3" fmla="*/ 487035 h 487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251" h="487035">
                <a:moveTo>
                  <a:pt x="1249251" y="203700"/>
                </a:moveTo>
                <a:cubicBezTo>
                  <a:pt x="1095778" y="83497"/>
                  <a:pt x="942305" y="-36706"/>
                  <a:pt x="734096" y="10517"/>
                </a:cubicBezTo>
                <a:cubicBezTo>
                  <a:pt x="525887" y="57740"/>
                  <a:pt x="0" y="487035"/>
                  <a:pt x="0" y="487035"/>
                </a:cubicBezTo>
                <a:lnTo>
                  <a:pt x="0" y="487035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50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two integers: "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endParaRPr lang="en-US" sz="22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is equal to "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if Statement – Example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39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"is not equal to"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is less than "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"is greater than"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sz="2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Program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if Statement – Example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58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6"/>
            <a:ext cx="8229600" cy="1264603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two integers:	10	5</a:t>
            </a:r>
          </a:p>
          <a:p>
            <a:pPr marL="0" indent="0">
              <a:lnSpc>
                <a:spcPct val="90000"/>
              </a:lnSpc>
              <a:buNone/>
            </a:pPr>
            <a:endParaRPr lang="en-US" sz="2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is greater than 5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if Statement – Example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2956365"/>
            <a:ext cx="8229600" cy="1234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two integers:	15	25</a:t>
            </a:r>
          </a:p>
          <a:p>
            <a:pPr marL="0" indent="0">
              <a:lnSpc>
                <a:spcPct val="90000"/>
              </a:lnSpc>
              <a:buNone/>
            </a:pPr>
            <a:endParaRPr lang="en-US" sz="2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is less than 25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4481072"/>
            <a:ext cx="8229600" cy="128055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two integers:	50	50</a:t>
            </a:r>
          </a:p>
          <a:p>
            <a:pPr marL="0" indent="0">
              <a:lnSpc>
                <a:spcPct val="90000"/>
              </a:lnSpc>
              <a:buNone/>
            </a:pPr>
            <a:endParaRPr lang="en-US" sz="2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 is equal to 50</a:t>
            </a:r>
          </a:p>
        </p:txBody>
      </p:sp>
    </p:spTree>
    <p:extLst>
      <p:ext uri="{BB962C8B-B14F-4D97-AF65-F5344CB8AC3E}">
        <p14:creationId xmlns:p14="http://schemas.microsoft.com/office/powerpoint/2010/main" val="333665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 build="p" animBg="1"/>
      <p:bldP spid="15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Prompt user to enter a value. Check if the number is even then display a message that number is even. If number if odd then display message number is odd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1 (Statement)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413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a number:\t"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(num%2 == 0)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is an even number"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(num%2 != 0)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is an odd number"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1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17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01552"/>
            <a:ext cx="8229600" cy="1036003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a number:	399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399 is an odd number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– 1 (Output)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62566" y="3993197"/>
            <a:ext cx="8229600" cy="10360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a number:	500</a:t>
            </a:r>
          </a:p>
          <a:p>
            <a:pPr marL="0" indent="0">
              <a:buFont typeface="Arial" pitchFamily="34" charset="0"/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500 is an even number</a:t>
            </a:r>
          </a:p>
        </p:txBody>
      </p:sp>
    </p:spTree>
    <p:extLst>
      <p:ext uri="{BB962C8B-B14F-4D97-AF65-F5344CB8AC3E}">
        <p14:creationId xmlns:p14="http://schemas.microsoft.com/office/powerpoint/2010/main" val="157066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Adding Two Integers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Using Character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Variables Type &amp; Range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Integer Overflow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Code Flow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if Statement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Recap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76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i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Questions</a:t>
              </a:r>
            </a:p>
          </p:txBody>
        </p:sp>
      </p:grpSp>
      <p:pic>
        <p:nvPicPr>
          <p:cNvPr id="17" name="Content Placeholder 3" descr="Question_Mark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50" y="1828800"/>
            <a:ext cx="3695700" cy="3886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15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2974</TotalTime>
  <Words>1562</Words>
  <Application>Microsoft Office PowerPoint</Application>
  <PresentationFormat>On-screen Show (4:3)</PresentationFormat>
  <Paragraphs>355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Shahid</dc:creator>
  <cp:lastModifiedBy>Rana Arsal Mahmood</cp:lastModifiedBy>
  <cp:revision>2615</cp:revision>
  <dcterms:created xsi:type="dcterms:W3CDTF">2006-08-16T00:00:00Z</dcterms:created>
  <dcterms:modified xsi:type="dcterms:W3CDTF">2025-03-10T09:01:02Z</dcterms:modified>
</cp:coreProperties>
</file>