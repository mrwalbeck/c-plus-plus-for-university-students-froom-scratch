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579" r:id="rId2"/>
    <p:sldId id="580" r:id="rId3"/>
    <p:sldId id="581" r:id="rId4"/>
    <p:sldId id="625" r:id="rId5"/>
    <p:sldId id="626" r:id="rId6"/>
    <p:sldId id="649" r:id="rId7"/>
    <p:sldId id="650" r:id="rId8"/>
    <p:sldId id="651" r:id="rId9"/>
    <p:sldId id="652" r:id="rId10"/>
    <p:sldId id="653" r:id="rId11"/>
    <p:sldId id="654" r:id="rId12"/>
    <p:sldId id="655" r:id="rId13"/>
    <p:sldId id="656" r:id="rId14"/>
    <p:sldId id="657" r:id="rId15"/>
    <p:sldId id="658" r:id="rId16"/>
    <p:sldId id="609" r:id="rId17"/>
    <p:sldId id="659" r:id="rId18"/>
    <p:sldId id="660" r:id="rId19"/>
    <p:sldId id="611" r:id="rId20"/>
    <p:sldId id="610" r:id="rId21"/>
    <p:sldId id="599" r:id="rId22"/>
    <p:sldId id="600" r:id="rId23"/>
    <p:sldId id="601" r:id="rId24"/>
    <p:sldId id="602" r:id="rId25"/>
    <p:sldId id="661" r:id="rId26"/>
    <p:sldId id="662" r:id="rId27"/>
    <p:sldId id="598" r:id="rId28"/>
    <p:sldId id="663" r:id="rId29"/>
    <p:sldId id="664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99"/>
    <a:srgbClr val="FFFFCC"/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9664" autoAdjust="0"/>
  </p:normalViewPr>
  <p:slideViewPr>
    <p:cSldViewPr>
      <p:cViewPr varScale="1">
        <p:scale>
          <a:sx n="85" d="100"/>
          <a:sy n="85" d="100"/>
        </p:scale>
        <p:origin x="1378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8910F-2AFB-4033-B56C-66F0A1FD95E7}" type="datetimeFigureOut">
              <a:rPr lang="en-US" smtClean="0"/>
              <a:t>3/11/2025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B5720A-9658-406E-AF8C-E28D6A7BB2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16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381000" y="2523971"/>
            <a:ext cx="8382000" cy="2014857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</a:t>
            </a:r>
          </a:p>
          <a:p>
            <a:pPr algn="ctr"/>
            <a:endParaRPr lang="en-US" sz="3000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 No. 04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800" b="1" dirty="0"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76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Comments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Adding Two Integers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Using Character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Variables Type &amp; Range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Integer Overflow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Code Flow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if Statement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Last Lecture Review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97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Nested if…else Statements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Dangling-else Problem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Multiple Selection (else-if)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Ternary Operator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What Will You Learn Today?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569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In any programming language the flow of the code can be of four types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Sequential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Repetition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Go to (Obsolete Style)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Code Flow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1412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Sequential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Selection</a:t>
            </a:r>
          </a:p>
          <a:p>
            <a:pPr lvl="1">
              <a:buFont typeface="Arial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Single Selection (if)</a:t>
            </a:r>
          </a:p>
          <a:p>
            <a:pPr lvl="1">
              <a:buFont typeface="Arial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Double Selection (if-else, Ternary Operator)</a:t>
            </a:r>
          </a:p>
          <a:p>
            <a:pPr lvl="1">
              <a:buFont typeface="Arial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Multiple Selection (else-if, switch)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Repetition</a:t>
            </a:r>
          </a:p>
          <a:p>
            <a:pPr lvl="1"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while Loop</a:t>
            </a:r>
          </a:p>
          <a:p>
            <a:pPr lvl="1"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do-while Loop</a:t>
            </a:r>
          </a:p>
          <a:p>
            <a:pPr lvl="1">
              <a:buFont typeface="Arial" panose="020B0604020202020204" pitchFamily="34" charset="0"/>
              <a:buChar char="‒"/>
            </a:pPr>
            <a:r>
              <a:rPr lang="en-US" sz="2700" dirty="0">
                <a:latin typeface="Arial" panose="020B0604020202020204" pitchFamily="34" charset="0"/>
                <a:cs typeface="Arial" panose="020B0604020202020204" pitchFamily="34" charset="0"/>
              </a:rPr>
              <a:t>for Loop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Code Flow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7743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statement is used in C++ for selection purposes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Structure of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statement is: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if Statement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4297997"/>
            <a:ext cx="8229600" cy="20266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6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3436" y="4507131"/>
            <a:ext cx="1317938" cy="1436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True(1) OR False(0)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366062"/>
            <a:ext cx="2314977" cy="1067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Operator</a:t>
            </a:r>
          </a:p>
        </p:txBody>
      </p:sp>
      <p:sp>
        <p:nvSpPr>
          <p:cNvPr id="2" name="Freeform 1"/>
          <p:cNvSpPr/>
          <p:nvPr/>
        </p:nvSpPr>
        <p:spPr>
          <a:xfrm>
            <a:off x="3915177" y="3682292"/>
            <a:ext cx="2730322" cy="863950"/>
          </a:xfrm>
          <a:custGeom>
            <a:avLst/>
            <a:gdLst>
              <a:gd name="connsiteX0" fmla="*/ 0 w 2730322"/>
              <a:gd name="connsiteY0" fmla="*/ 722283 h 863950"/>
              <a:gd name="connsiteX1" fmla="*/ 1249251 w 2730322"/>
              <a:gd name="connsiteY1" fmla="*/ 1066 h 863950"/>
              <a:gd name="connsiteX2" fmla="*/ 2730322 w 2730322"/>
              <a:gd name="connsiteY2" fmla="*/ 863950 h 863950"/>
              <a:gd name="connsiteX3" fmla="*/ 2730322 w 2730322"/>
              <a:gd name="connsiteY3" fmla="*/ 863950 h 86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322" h="863950">
                <a:moveTo>
                  <a:pt x="0" y="722283"/>
                </a:moveTo>
                <a:cubicBezTo>
                  <a:pt x="397098" y="349869"/>
                  <a:pt x="794197" y="-22545"/>
                  <a:pt x="1249251" y="1066"/>
                </a:cubicBezTo>
                <a:cubicBezTo>
                  <a:pt x="1704305" y="24677"/>
                  <a:pt x="2730322" y="863950"/>
                  <a:pt x="2730322" y="863950"/>
                </a:cubicBezTo>
                <a:lnTo>
                  <a:pt x="2730322" y="863950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1339403" y="4136480"/>
            <a:ext cx="1249251" cy="487035"/>
          </a:xfrm>
          <a:custGeom>
            <a:avLst/>
            <a:gdLst>
              <a:gd name="connsiteX0" fmla="*/ 1249251 w 1249251"/>
              <a:gd name="connsiteY0" fmla="*/ 203700 h 487035"/>
              <a:gd name="connsiteX1" fmla="*/ 734096 w 1249251"/>
              <a:gd name="connsiteY1" fmla="*/ 10517 h 487035"/>
              <a:gd name="connsiteX2" fmla="*/ 0 w 1249251"/>
              <a:gd name="connsiteY2" fmla="*/ 487035 h 487035"/>
              <a:gd name="connsiteX3" fmla="*/ 0 w 1249251"/>
              <a:gd name="connsiteY3" fmla="*/ 487035 h 487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251" h="487035">
                <a:moveTo>
                  <a:pt x="1249251" y="203700"/>
                </a:moveTo>
                <a:cubicBezTo>
                  <a:pt x="1095778" y="83497"/>
                  <a:pt x="942305" y="-36706"/>
                  <a:pt x="734096" y="10517"/>
                </a:cubicBezTo>
                <a:cubicBezTo>
                  <a:pt x="525887" y="57740"/>
                  <a:pt x="0" y="487035"/>
                  <a:pt x="0" y="487035"/>
                </a:cubicBezTo>
                <a:lnTo>
                  <a:pt x="0" y="487035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19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statement is used in C++ for selection purposes 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Structure of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statement is: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if Statement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4297997"/>
            <a:ext cx="8229600" cy="202660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6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3436" y="4507131"/>
            <a:ext cx="1317938" cy="14364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True(1) OR False(0)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366062"/>
            <a:ext cx="2314977" cy="1067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Relational Operator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57200" y="1426113"/>
            <a:ext cx="8229600" cy="914407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grade is greater than or equal to 60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Print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"Passed"</a:t>
            </a: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57200" y="2583461"/>
            <a:ext cx="8229600" cy="99793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grade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60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"Passed"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" name="Freeform 1"/>
          <p:cNvSpPr/>
          <p:nvPr/>
        </p:nvSpPr>
        <p:spPr>
          <a:xfrm>
            <a:off x="3915177" y="3682292"/>
            <a:ext cx="2730322" cy="863950"/>
          </a:xfrm>
          <a:custGeom>
            <a:avLst/>
            <a:gdLst>
              <a:gd name="connsiteX0" fmla="*/ 0 w 2730322"/>
              <a:gd name="connsiteY0" fmla="*/ 722283 h 863950"/>
              <a:gd name="connsiteX1" fmla="*/ 1249251 w 2730322"/>
              <a:gd name="connsiteY1" fmla="*/ 1066 h 863950"/>
              <a:gd name="connsiteX2" fmla="*/ 2730322 w 2730322"/>
              <a:gd name="connsiteY2" fmla="*/ 863950 h 863950"/>
              <a:gd name="connsiteX3" fmla="*/ 2730322 w 2730322"/>
              <a:gd name="connsiteY3" fmla="*/ 863950 h 86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730322" h="863950">
                <a:moveTo>
                  <a:pt x="0" y="722283"/>
                </a:moveTo>
                <a:cubicBezTo>
                  <a:pt x="397098" y="349869"/>
                  <a:pt x="794197" y="-22545"/>
                  <a:pt x="1249251" y="1066"/>
                </a:cubicBezTo>
                <a:cubicBezTo>
                  <a:pt x="1704305" y="24677"/>
                  <a:pt x="2730322" y="863950"/>
                  <a:pt x="2730322" y="863950"/>
                </a:cubicBezTo>
                <a:lnTo>
                  <a:pt x="2730322" y="863950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Freeform 3"/>
          <p:cNvSpPr/>
          <p:nvPr/>
        </p:nvSpPr>
        <p:spPr>
          <a:xfrm>
            <a:off x="1339403" y="4136480"/>
            <a:ext cx="1249251" cy="487035"/>
          </a:xfrm>
          <a:custGeom>
            <a:avLst/>
            <a:gdLst>
              <a:gd name="connsiteX0" fmla="*/ 1249251 w 1249251"/>
              <a:gd name="connsiteY0" fmla="*/ 203700 h 487035"/>
              <a:gd name="connsiteX1" fmla="*/ 734096 w 1249251"/>
              <a:gd name="connsiteY1" fmla="*/ 10517 h 487035"/>
              <a:gd name="connsiteX2" fmla="*/ 0 w 1249251"/>
              <a:gd name="connsiteY2" fmla="*/ 487035 h 487035"/>
              <a:gd name="connsiteX3" fmla="*/ 0 w 1249251"/>
              <a:gd name="connsiteY3" fmla="*/ 487035 h 487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49251" h="487035">
                <a:moveTo>
                  <a:pt x="1249251" y="203700"/>
                </a:moveTo>
                <a:cubicBezTo>
                  <a:pt x="1095778" y="83497"/>
                  <a:pt x="942305" y="-36706"/>
                  <a:pt x="734096" y="10517"/>
                </a:cubicBezTo>
                <a:cubicBezTo>
                  <a:pt x="525887" y="57740"/>
                  <a:pt x="0" y="487035"/>
                  <a:pt x="0" y="487035"/>
                </a:cubicBezTo>
                <a:lnTo>
                  <a:pt x="0" y="487035"/>
                </a:lnTo>
              </a:path>
            </a:pathLst>
          </a:custGeom>
          <a:noFill/>
          <a:ln w="44450">
            <a:solidFill>
              <a:srgbClr val="C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02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Used for double selection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Syntax of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if-else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if as: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Double Selection (if-else Statement)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2880360"/>
            <a:ext cx="8229600" cy="3139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1676400" y="2880360"/>
            <a:ext cx="5257800" cy="1539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676400" y="4451714"/>
            <a:ext cx="5257800" cy="1539240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77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Used for double selection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Syntax of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if-else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if as: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Double Selection (if-else Statement)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2880360"/>
            <a:ext cx="8229600" cy="313944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" name="Rectangle 1"/>
          <p:cNvSpPr/>
          <p:nvPr/>
        </p:nvSpPr>
        <p:spPr>
          <a:xfrm>
            <a:off x="1676400" y="2880360"/>
            <a:ext cx="5257800" cy="15392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676400" y="4451714"/>
            <a:ext cx="5257800" cy="1539240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57200" y="1127760"/>
            <a:ext cx="8229600" cy="1615440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grade is greater than or equal to 60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Print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"Passed"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Print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"Failed"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267200" y="1893668"/>
            <a:ext cx="4724400" cy="16381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grade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60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"Passed"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"Failed"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2268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Nested if…else statements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by placing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if…else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selection statements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other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if…else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selection statements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Nested if…else Statements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85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job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martial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age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Martial Status:"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status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age:"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age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job Status:"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job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(status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'u')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(age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25)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(job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"Eligible for Loan"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"Not eligible for Loan"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Nested if…else Statements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504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1798003"/>
          </a:xfrm>
          <a:solidFill>
            <a:schemeClr val="tx1"/>
          </a:solidFill>
          <a:ln>
            <a:solidFill>
              <a:srgbClr val="FF33CC"/>
            </a:solidFill>
          </a:ln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Martial Status:		u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age:				20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job Status:		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endParaRPr lang="en-US" sz="2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Eligible for Loan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Nested if…else Statements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3585479"/>
            <a:ext cx="8229600" cy="1798003"/>
          </a:xfrm>
          <a:prstGeom prst="rect">
            <a:avLst/>
          </a:prstGeom>
          <a:solidFill>
            <a:schemeClr val="tx1"/>
          </a:solidFill>
          <a:ln>
            <a:solidFill>
              <a:srgbClr val="FF33CC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Martial Status:		u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age:				18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job Status:		1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endParaRPr lang="en-US" sz="2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 eligible for Loan</a:t>
            </a:r>
          </a:p>
        </p:txBody>
      </p:sp>
    </p:spTree>
    <p:extLst>
      <p:ext uri="{BB962C8B-B14F-4D97-AF65-F5344CB8AC3E}">
        <p14:creationId xmlns:p14="http://schemas.microsoft.com/office/powerpoint/2010/main" val="3952189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 C++ compiler always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associates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else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with the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immediately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preceding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unless told to do otherwise by the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placement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braces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3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This behavior can lead to what’s referred to as the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dangling-else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problem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Dangling-else Problem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834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2255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 anchorCtr="0">
            <a:normAutofit fontScale="92500"/>
          </a:bodyPr>
          <a:lstStyle/>
          <a:p>
            <a:pPr marL="0" indent="0"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"x and y are greater than 5"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"x is less than equal to 5"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Dangling-else Problem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451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02597"/>
            <a:ext cx="8229600" cy="30934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 anchorCtr="0">
            <a:norm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y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5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x and y are greater than 5 "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x is less than equal to 5 "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Dangling-else Problem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1386103"/>
            <a:ext cx="8229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force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the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nested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if…else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 statement to execute as originally intended, we can write it as follows:</a:t>
            </a:r>
          </a:p>
        </p:txBody>
      </p:sp>
    </p:spTree>
    <p:extLst>
      <p:ext uri="{BB962C8B-B14F-4D97-AF65-F5344CB8AC3E}">
        <p14:creationId xmlns:p14="http://schemas.microsoft.com/office/powerpoint/2010/main" val="1088841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617403"/>
          </a:xfrm>
          <a:solidFill>
            <a:srgbClr val="FFFFCC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 anchorCtr="0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 if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………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Multiple Selection (else-if)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099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617403"/>
          </a:xfrm>
          <a:solidFill>
            <a:srgbClr val="FFFFCC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anchor="ctr" anchorCtr="0">
            <a:normAutofit lnSpcReduction="10000"/>
          </a:bodyPr>
          <a:lstStyle/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if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 if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………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endParaRPr lang="en-US" sz="24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		else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4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	statement(s)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  <a:spcBef>
                <a:spcPts val="0"/>
              </a:spcBef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Multiple Selection (else-if)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066800" y="1371600"/>
            <a:ext cx="5486400" cy="1264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68946" y="2850197"/>
            <a:ext cx="5486400" cy="1569403"/>
          </a:xfrm>
          <a:prstGeom prst="rect">
            <a:avLst/>
          </a:prstGeom>
          <a:noFill/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1083972" y="4541995"/>
            <a:ext cx="5486400" cy="138675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553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number;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a  number between 1 to 3:"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&gt;&gt; number;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endParaRPr lang="en-US" sz="2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number == </a:t>
            </a:r>
            <a:r>
              <a:rPr lang="en-US" sz="2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"You pressed 1"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number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"You pressed 2"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Multiple Selection (else-if)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602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3124078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number == </a:t>
            </a:r>
            <a:r>
              <a:rPr lang="en-US" sz="22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"You pressed 3"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2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"Invalid input"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Multiple Selection (else-if)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4648200"/>
            <a:ext cx="8229600" cy="807403"/>
          </a:xfrm>
          <a:prstGeom prst="rect">
            <a:avLst/>
          </a:prstGeom>
          <a:solidFill>
            <a:schemeClr val="tx1"/>
          </a:solidFill>
          <a:ln>
            <a:solidFill>
              <a:srgbClr val="FF33CC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a  number between 1 to 3:		3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You pressed 3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5577328"/>
            <a:ext cx="8229600" cy="823472"/>
          </a:xfrm>
          <a:prstGeom prst="rect">
            <a:avLst/>
          </a:prstGeom>
          <a:solidFill>
            <a:schemeClr val="tx1"/>
          </a:solidFill>
          <a:ln>
            <a:solidFill>
              <a:srgbClr val="FF33CC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a  number between 1 to 3:		50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3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Invalid input</a:t>
            </a:r>
          </a:p>
        </p:txBody>
      </p:sp>
    </p:spTree>
    <p:extLst>
      <p:ext uri="{BB962C8B-B14F-4D97-AF65-F5344CB8AC3E}">
        <p14:creationId xmlns:p14="http://schemas.microsoft.com/office/powerpoint/2010/main" val="691651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 build="p" animBg="1"/>
      <p:bldP spid="15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Develop a calculator which is able to handle two numbers. The calculator can perform addition, subtraction, multiplication, and division.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(Statement)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06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Ask the user to enter two numbers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Then ask to enter the operator (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*</a:t>
            </a: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Calculate the result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Display the result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(Analysis)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863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sz="20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opChoice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first number:\t"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second number:\t"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operator (+,-,/,*):\t"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opChoice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172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30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4000"/>
                            </p:stCondLst>
                            <p:childTnLst>
                              <p:par>
                                <p:cTn id="8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opChoice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'+'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+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opChoice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'-'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-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opChoice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'*')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*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		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opChoice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'/')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/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 = 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(Solution)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11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1493203"/>
          </a:xfrm>
          <a:solidFill>
            <a:schemeClr val="tx1"/>
          </a:solidFill>
          <a:ln>
            <a:solidFill>
              <a:schemeClr val="tx1"/>
            </a:solidFill>
          </a:ln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first number:     		400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second number:    		200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operator (+,-,/,*):		+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400 + 200 = 600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Problem (Output)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3108765"/>
            <a:ext cx="8229600" cy="14932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first number:     		300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second number:    		400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operator (+,-,/,*):		*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300 + 400 = 1200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57200" y="4781453"/>
            <a:ext cx="8229600" cy="14932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first number:     		500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second number:    		100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operator (+,-,/,*):		/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500 + 100 = 100</a:t>
            </a:r>
          </a:p>
        </p:txBody>
      </p:sp>
    </p:spTree>
    <p:extLst>
      <p:ext uri="{BB962C8B-B14F-4D97-AF65-F5344CB8AC3E}">
        <p14:creationId xmlns:p14="http://schemas.microsoft.com/office/powerpoint/2010/main" val="201058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000"/>
                            </p:stCondLst>
                            <p:childTnLst>
                              <p:par>
                                <p:cTn id="8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000"/>
                            </p:stCondLst>
                            <p:childTnLst>
                              <p:par>
                                <p:cTn id="9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 build="p" animBg="1"/>
      <p:bldP spid="15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Ternary operator exactly work as if-else statement do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Structure of ternary operator is: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Ternary Operator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000" y="4191000"/>
            <a:ext cx="7848599" cy="1295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1600200" y="3086100"/>
            <a:ext cx="3020588" cy="2095500"/>
            <a:chOff x="1600200" y="3086100"/>
            <a:chExt cx="3020588" cy="2095500"/>
          </a:xfrm>
        </p:grpSpPr>
        <p:sp>
          <p:nvSpPr>
            <p:cNvPr id="15" name="Arc 14"/>
            <p:cNvSpPr/>
            <p:nvPr/>
          </p:nvSpPr>
          <p:spPr>
            <a:xfrm>
              <a:off x="1600200" y="3429000"/>
              <a:ext cx="3020588" cy="1752600"/>
            </a:xfrm>
            <a:prstGeom prst="arc">
              <a:avLst>
                <a:gd name="adj1" fmla="val 10918790"/>
                <a:gd name="adj2" fmla="val 0"/>
              </a:avLst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403977" y="3086100"/>
              <a:ext cx="1253623" cy="419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True</a:t>
              </a:r>
            </a:p>
          </p:txBody>
        </p:sp>
      </p:grpSp>
      <p:grpSp>
        <p:nvGrpSpPr>
          <p:cNvPr id="4" name="Group 3"/>
          <p:cNvGrpSpPr/>
          <p:nvPr/>
        </p:nvGrpSpPr>
        <p:grpSpPr>
          <a:xfrm>
            <a:off x="1600199" y="4419598"/>
            <a:ext cx="5414210" cy="1828802"/>
            <a:chOff x="1600199" y="4419598"/>
            <a:chExt cx="5414210" cy="1828802"/>
          </a:xfrm>
        </p:grpSpPr>
        <p:sp>
          <p:nvSpPr>
            <p:cNvPr id="16" name="Arc 15"/>
            <p:cNvSpPr/>
            <p:nvPr/>
          </p:nvSpPr>
          <p:spPr>
            <a:xfrm rot="10800000">
              <a:off x="1600199" y="4419598"/>
              <a:ext cx="5414210" cy="1828801"/>
            </a:xfrm>
            <a:prstGeom prst="arc">
              <a:avLst>
                <a:gd name="adj1" fmla="val 10918790"/>
                <a:gd name="adj2" fmla="val 0"/>
              </a:avLst>
            </a:prstGeom>
            <a:ln w="38100">
              <a:solidFill>
                <a:srgbClr val="FF0000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678737" y="5829300"/>
              <a:ext cx="1253623" cy="4191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False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838201" y="4298950"/>
            <a:ext cx="2085000" cy="10701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(condition)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03600" y="4298950"/>
            <a:ext cx="383623" cy="10701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04377" y="4298950"/>
            <a:ext cx="2232823" cy="107019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statement1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01577" y="4298950"/>
            <a:ext cx="2232823" cy="107019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statement2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864777" y="4298950"/>
            <a:ext cx="383623" cy="10701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36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Ternary operator exactly work as if-else statement do</a:t>
            </a:r>
          </a:p>
          <a:p>
            <a:pPr>
              <a:buClr>
                <a:schemeClr val="tx1"/>
              </a:buClr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Structure of ternary operator is: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Ternary Operator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62000" y="4191000"/>
            <a:ext cx="7848599" cy="12954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Arc 14"/>
          <p:cNvSpPr/>
          <p:nvPr/>
        </p:nvSpPr>
        <p:spPr>
          <a:xfrm>
            <a:off x="1600200" y="3429000"/>
            <a:ext cx="3020588" cy="1752600"/>
          </a:xfrm>
          <a:prstGeom prst="arc">
            <a:avLst>
              <a:gd name="adj1" fmla="val 10918790"/>
              <a:gd name="adj2" fmla="val 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Arc 15"/>
          <p:cNvSpPr/>
          <p:nvPr/>
        </p:nvSpPr>
        <p:spPr>
          <a:xfrm rot="10800000">
            <a:off x="1600199" y="4419598"/>
            <a:ext cx="5414210" cy="1828801"/>
          </a:xfrm>
          <a:prstGeom prst="arc">
            <a:avLst>
              <a:gd name="adj1" fmla="val 10918790"/>
              <a:gd name="adj2" fmla="val 0"/>
            </a:avLst>
          </a:prstGeom>
          <a:ln w="38100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78737" y="5829300"/>
            <a:ext cx="1253623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False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8201" y="4298950"/>
            <a:ext cx="2085000" cy="107019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(condition)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03600" y="4298950"/>
            <a:ext cx="383623" cy="10701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504377" y="4298950"/>
            <a:ext cx="2232823" cy="107019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statement1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01577" y="4298950"/>
            <a:ext cx="2232823" cy="1070194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statement2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864777" y="4298950"/>
            <a:ext cx="383623" cy="107019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sz="25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ontent Placeholder 2"/>
          <p:cNvSpPr txBox="1">
            <a:spLocks/>
          </p:cNvSpPr>
          <p:nvPr/>
        </p:nvSpPr>
        <p:spPr>
          <a:xfrm>
            <a:off x="457200" y="1524000"/>
            <a:ext cx="8229600" cy="8001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grade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"Passed"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"Failed")</a:t>
            </a:r>
            <a:r>
              <a:rPr lang="en-US" sz="2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460420" y="2514600"/>
            <a:ext cx="8229600" cy="797144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440" tIns="45720" rIns="91440" bIns="45720" rtlCol="0" anchor="ctr" anchorCtr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grade </a:t>
            </a:r>
            <a:r>
              <a:rPr lang="en-US" sz="23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3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"Passed"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-US" sz="2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3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"Failed"</a:t>
            </a:r>
            <a:r>
              <a:rPr lang="en-US" sz="23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23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403977" y="3086100"/>
            <a:ext cx="1253623" cy="419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73813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129406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#include&lt;</a:t>
            </a:r>
            <a:r>
              <a:rPr lang="en-US" sz="20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20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first number\t"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"Enter second number\t"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firstNo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secondNo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"First number 	is greater"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1D0CFC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"Second number is greater"</a:t>
            </a: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0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Ternary Operator – Example</a:t>
              </a:r>
            </a:p>
          </p:txBody>
        </p:sp>
      </p:grpSp>
      <p:sp>
        <p:nvSpPr>
          <p:cNvPr id="17" name="Rectangle 16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54568"/>
            <a:ext cx="7808563" cy="4623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457200" y="5638800"/>
            <a:ext cx="8229600" cy="11122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first number		200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second number		600</a:t>
            </a:r>
          </a:p>
          <a:p>
            <a:pPr marL="0" indent="0">
              <a:spcBef>
                <a:spcPts val="0"/>
              </a:spcBef>
              <a:buClr>
                <a:schemeClr val="tx1"/>
              </a:buClr>
              <a:buFont typeface="Arial" pitchFamily="34" charset="0"/>
              <a:buNone/>
            </a:pPr>
            <a:r>
              <a:rPr lang="en-US" sz="22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Second number is greater</a:t>
            </a:r>
            <a:endParaRPr lang="en-US" sz="22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63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100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2000"/>
                            </p:stCondLst>
                            <p:childTnLst>
                              <p:par>
                                <p:cTn id="7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000"/>
                            </p:stCondLst>
                            <p:childTnLst>
                              <p:par>
                                <p:cTn id="10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P spid="13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9840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Nested if…else Statements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Dangling-else Problem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Multiple Selection (else-if)</a:t>
            </a:r>
          </a:p>
          <a:p>
            <a:pPr>
              <a:lnSpc>
                <a:spcPct val="110000"/>
              </a:lnSpc>
              <a:buFont typeface="Wingdings" pitchFamily="2" charset="2"/>
              <a:buChar char="§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Ternary Operator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Recap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28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043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2397"/>
            <a:ext cx="8229600" cy="49222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i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6187440"/>
            <a:ext cx="609600" cy="67056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0" y="0"/>
            <a:ext cx="9144000" cy="914400"/>
            <a:chOff x="0" y="0"/>
            <a:chExt cx="9144000" cy="762000"/>
          </a:xfrm>
          <a:solidFill>
            <a:schemeClr val="tx2">
              <a:lumMod val="50000"/>
            </a:schemeClr>
          </a:solidFill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3400" b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dirty="0">
                  <a:latin typeface="Arial" pitchFamily="34" charset="0"/>
                  <a:cs typeface="Arial" pitchFamily="34" charset="0"/>
                </a:rPr>
                <a:t>Questions</a:t>
              </a:r>
            </a:p>
          </p:txBody>
        </p:sp>
      </p:grpSp>
      <p:pic>
        <p:nvPicPr>
          <p:cNvPr id="17" name="Content Placeholder 3" descr="Question_Mark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150" y="1828800"/>
            <a:ext cx="3695700" cy="38862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436" y="6324600"/>
            <a:ext cx="7808563" cy="4623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057400" y="6400800"/>
            <a:ext cx="5029200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Fundamentals – COC1071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00800"/>
            <a:ext cx="573437" cy="42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08AB6D5D-813F-4D28-A1F4-E2BA00AA1D69}" type="slidenum">
              <a:rPr lang="en-US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29</a:t>
            </a:fld>
            <a:endParaRPr lang="en-US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4620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2782</TotalTime>
  <Words>1617</Words>
  <Application>Microsoft Office PowerPoint</Application>
  <PresentationFormat>On-screen Show (4:3)</PresentationFormat>
  <Paragraphs>345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Shahid</dc:creator>
  <cp:lastModifiedBy>Rana Arsal Mahmood</cp:lastModifiedBy>
  <cp:revision>2619</cp:revision>
  <dcterms:created xsi:type="dcterms:W3CDTF">2006-08-16T00:00:00Z</dcterms:created>
  <dcterms:modified xsi:type="dcterms:W3CDTF">2025-03-11T08:03:51Z</dcterms:modified>
</cp:coreProperties>
</file>